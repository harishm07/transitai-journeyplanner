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HERO SLIDE — Open with energy. Emphasize: India's 4.2B daily trips are being served by ZERO unified platforms. TransitAI changes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SLIDE — Stress the human cost: avg Indian commuter wastes 90 min/day. 4.2B trips. Zero unified app. This is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SLIDE — Point to the bottom row. TransitAI is the only ALL-GREEN row. That is the entire pitch in one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SLIDE — Walk through the 5-step flow. Emphasize: this isn't just route planning — it's the complete journey orchestrated from start to finish.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SLIDE — Highlight Women Safety Mode and Carbon Rewards as the differentiators no competitor 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SLIDE — Explain: input data → ML ensemble → 847 route combinations scored → top 4 surfaces to user in under 200ms.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 SLIDE — Walk judges through exactly what to click in the live demo. Practice this 10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SLIDE — Emphasize microservices: each module scales independently. Redis for real-time, PostgreSQL for persistence, ML service is standalone.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SLIDE — All open-source, production-grade. Monthly cost = ₹0 for demo. FastAPI gives async performance needed for real-time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SLIDE — Lead with the 30% and ₹847 numbers. These resonate immediately. Then explain city-level impact for smart city 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SCALABILITY SLIDE — Key message: the architecture doesn't change for 50 cities, only the data feeds do. Built to scale from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SCOPE — Women safety and carbon rewards are partially built in v1. Smart city API is the biggest opportunity for government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SLIDE — Judges love when students think about monetization. Lead with booking commission (simplest model), then explain B2B as the high-value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Pause here. Invite questions. Have the live demo URL ready on your phone. GitHub repo QR code should be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4114800" cy="4114800"/>
          </a:xfrm>
          <a:prstGeom prst="ellipse">
            <a:avLst/>
          </a:prstGeom>
          <a:solidFill>
            <a:srgbClr val="4F46E5">
              <a:alpha val="15000"/>
            </a:srgbClr>
          </a:solidFill>
          <a:ln w="635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0" y="18288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 w="635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63040" y="91440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4F46E5">
              <a:alpha val="40000"/>
            </a:srgbClr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6B6D4"/>
                </a:solidFill>
              </a:rPr>
              <a:t>🏆  MOBILITY INNOVATION HACKATHON  ·  SMART MULTI-MODAL JOURNEY PLANNER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71600" y="141732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pPr algn="l"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37160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5B4FC"/>
                </a:solidFill>
              </a:rPr>
              <a:t>One Journey. One Platform. Smarter Commutes.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371600" y="3520440"/>
            <a:ext cx="2286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3703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94A3B8"/>
                </a:solidFill>
              </a:rPr>
              <a:t>India's first AI-powered multi-modal mobility platform — unifying metro, bus, train, auto, bike taxi and walking into a single intelligent journey.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371600" y="4617720"/>
            <a:ext cx="502920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12000"/>
            </a:srgbClr>
          </a:solidFill>
          <a:ln w="889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4617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The Trail Blazers 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·  Harish M  ·  Gokul R  ·  Udaya Nithi  ·  Abishek 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98080" y="1097280"/>
            <a:ext cx="4114800" cy="5029200"/>
          </a:xfrm>
          <a:prstGeom prst="roundRect">
            <a:avLst>
              <a:gd name="adj" fmla="val 4000"/>
            </a:avLst>
          </a:prstGeom>
          <a:solidFill>
            <a:srgbClr val="FFFFFF">
              <a:alpha val="7000"/>
            </a:srgbClr>
          </a:solidFill>
          <a:ln w="8890">
            <a:solidFill>
              <a:srgbClr val="4F46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26680" y="146304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726680" y="149961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4.2B+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266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Daily Trips in India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26680" y="256032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26680" y="25968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7266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Faster Journeys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726680" y="365760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726680" y="36941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7266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Transport Modes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726680" y="47548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726680" y="47914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77266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Extra Apps Needed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8872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India's Urban Commute is Broken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457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4.2B+ daily trips. Zero unified solutions.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377440" cy="1828800"/>
          </a:xfrm>
          <a:prstGeom prst="roundRect">
            <a:avLst>
              <a:gd name="adj" fmla="val 7500"/>
            </a:avLst>
          </a:prstGeom>
          <a:solidFill>
            <a:srgbClr val="0D0F1A"/>
          </a:solidFill>
          <a:ln/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544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4.2B+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urban commuter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trips daily in India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371600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0896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73552" y="19933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Multiple Apps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73552" y="233172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Separate apps for metro, bus, cab &amp; train — commuters juggle 4+ apps daily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99632" y="19933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No Real-Time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99632" y="233172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No multi-modal route optimization using live traffic &amp; delay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61120" y="1371600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61120" y="15361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ℹ️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25712" y="199339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Info Gaps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25712" y="233172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Inconsistent schedules, outdated route maps, unreliable arrival times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3749040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10896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🛺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73552" y="437083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Last-Mile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73552" y="470916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Zero integration with autos &amp; e-rickshaws — critical for 80% of trips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749040"/>
            <a:ext cx="274320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99632" y="4370832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Cost Uncertainty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9632" y="4709160"/>
            <a:ext cx="24140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Fare estimates unavailable upfront — commuters overpay daily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unified mobility platform exists in India — this is the gap TransitAI fills.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320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94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Current Solutions Fail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/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Last-Mile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Metro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Poor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TransitAI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6 Modes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Live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Integrated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Unified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ML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5669280"/>
            <a:ext cx="10698480" cy="658368"/>
          </a:xfrm>
          <a:prstGeom prst="roundRect">
            <a:avLst>
              <a:gd name="adj" fmla="val 16667"/>
            </a:avLst>
          </a:prstGeom>
          <a:solidFill>
            <a:srgbClr val="4F46E5">
              <a:alpha val="80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566928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TransitAI is the only platform to integrate ALL 6 transport modes with AI optimization, real-time data, and unified booking.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Introducing TransitAI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315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AI-powered Multi-Modal Journey Planner &amp; Mobility OS for India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315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4F46E5">
              <a:alpha val="25000"/>
            </a:srgbClr>
          </a:solidFill>
          <a:ln w="8890">
            <a:solidFill>
              <a:srgbClr val="4F46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🚇 Metro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603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10B981">
              <a:alpha val="25000"/>
            </a:srgbClr>
          </a:solidFill>
          <a:ln w="889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🚌 Bus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3891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C2626">
              <a:alpha val="25000"/>
            </a:srgbClr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🚂 Train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179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97706">
              <a:alpha val="2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🛺 Auto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467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7C3AED">
              <a:alpha val="25000"/>
            </a:srgbClr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🏍️ Bike Taxi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9875520" y="17556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0891B2">
              <a:alpha val="25000"/>
            </a:srgbClr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🚶 Walking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40080" y="2423160"/>
            <a:ext cx="1965960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008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User Sets Origin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&amp; Destination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606040" y="3218688"/>
            <a:ext cx="274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2788920" y="3127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›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880360" y="2423160"/>
            <a:ext cx="1965960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97180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02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88036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299008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AI Fetches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Real-Time Data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846320" y="3218688"/>
            <a:ext cx="274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3127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›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120640" y="2423160"/>
            <a:ext cx="1965960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21208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03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12064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23036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Route Optimization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Engine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7086600" y="3218688"/>
            <a:ext cx="274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2"/>
          <p:cNvSpPr/>
          <p:nvPr/>
        </p:nvSpPr>
        <p:spPr>
          <a:xfrm>
            <a:off x="7269480" y="3127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›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360920" y="2423160"/>
            <a:ext cx="1965960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745236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36092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47064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Route Options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Generated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9326880" y="3218688"/>
            <a:ext cx="27432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1" name="Text 38"/>
          <p:cNvSpPr/>
          <p:nvPr/>
        </p:nvSpPr>
        <p:spPr>
          <a:xfrm>
            <a:off x="9509760" y="3127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</a:rPr>
              <a:t>›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9601200" y="2423160"/>
            <a:ext cx="1965960" cy="1691640"/>
          </a:xfrm>
          <a:prstGeom prst="roundRect">
            <a:avLst>
              <a:gd name="adj" fmla="val 7568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69264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05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601200" y="2651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9710928" y="3200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Book &amp; Navigate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Seamlessly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640080" y="466344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0080" y="4828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48" name="Text 45"/>
          <p:cNvSpPr/>
          <p:nvPr/>
        </p:nvSpPr>
        <p:spPr>
          <a:xfrm>
            <a:off x="77724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Single Platform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777240" y="5559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All modes, one app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3520440" y="466344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520440" y="4828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365760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Optimization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3657600" y="5559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Fastest, cheapest, greenest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400800" y="466344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00800" y="4828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56" name="Text 53"/>
          <p:cNvSpPr/>
          <p:nvPr/>
        </p:nvSpPr>
        <p:spPr>
          <a:xfrm>
            <a:off x="653796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End-to-End Booking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6537960" y="5559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Plan → book → navigate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9281160" y="4663440"/>
            <a:ext cx="2651760" cy="1554480"/>
          </a:xfrm>
          <a:prstGeom prst="roundRect">
            <a:avLst>
              <a:gd name="adj" fmla="val 8235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281160" y="4828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60" name="Text 57"/>
          <p:cNvSpPr/>
          <p:nvPr/>
        </p:nvSpPr>
        <p:spPr>
          <a:xfrm>
            <a:off x="9418320" y="5257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Real-Time Intel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9418320" y="5559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Live delays &amp; fares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KEY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for India's Commute Reality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4752" y="1527048"/>
            <a:ext cx="658368" cy="658368"/>
          </a:xfrm>
          <a:prstGeom prst="ellipse">
            <a:avLst/>
          </a:prstGeom>
          <a:solidFill>
            <a:srgbClr val="4F46E5">
              <a:alpha val="18000"/>
            </a:srgbClr>
          </a:solidFill>
          <a:ln w="635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453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5216" y="23134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</a:rPr>
              <a:t>Smart Route Options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" y="27157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Fastest / Cheapest /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Balanced / Eco routes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3258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0832" y="1527048"/>
            <a:ext cx="658368" cy="658368"/>
          </a:xfrm>
          <a:prstGeom prst="ellipse">
            <a:avLst/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5453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11296" y="23134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AI Optimization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11296" y="27157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XGBoost + Random Forest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ML ensemble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96912" y="1527048"/>
            <a:ext cx="658368" cy="658368"/>
          </a:xfrm>
          <a:prstGeom prst="ellipse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15453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37376" y="23134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Real-Time Predictions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37376" y="27157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87% accurate delay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forecasts, ±3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35440" y="13258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22992" y="1527048"/>
            <a:ext cx="658368" cy="658368"/>
          </a:xfrm>
          <a:prstGeom prst="ellipse">
            <a:avLst/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95560" y="15453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63456" y="23134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Last-Mile Integration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63456" y="27157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Namma Yatri auto booking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inside the same app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44752" y="4041648"/>
            <a:ext cx="658368" cy="658368"/>
          </a:xfrm>
          <a:prstGeom prst="ellipse">
            <a:avLst/>
          </a:prstGeom>
          <a:solidFill>
            <a:srgbClr val="EC4899">
              <a:alpha val="18000"/>
            </a:srgbClr>
          </a:solidFill>
          <a:ln w="635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17320" y="40599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👩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85216" y="48280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</a:rPr>
              <a:t>Women Safety Mode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5216" y="52303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Safe routes + SOS alerts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+ guardian notification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8404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70832" y="4041648"/>
            <a:ext cx="658368" cy="658368"/>
          </a:xfrm>
          <a:prstGeom prst="ellipse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40599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511296" y="48280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Carbon Rewards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511296" y="52303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Earn points for green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commutes → redeem passes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9360" y="38404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96912" y="4041648"/>
            <a:ext cx="658368" cy="658368"/>
          </a:xfrm>
          <a:prstGeom prst="ellipse">
            <a:avLst/>
          </a:prstGeom>
          <a:solidFill>
            <a:srgbClr val="7C3AED">
              <a:alpha val="18000"/>
            </a:srgbClr>
          </a:solidFill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0599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🎙️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37376" y="48280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Conversational AI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37376" y="52303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Tamil / Hindi / English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NLP journey planning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235440" y="384048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222992" y="4041648"/>
            <a:ext cx="658368" cy="658368"/>
          </a:xfrm>
          <a:prstGeom prst="ellipse">
            <a:avLst/>
          </a:prstGeom>
          <a:solidFill>
            <a:srgbClr val="0891B2">
              <a:alpha val="18000"/>
            </a:srgbClr>
          </a:solidFill>
          <a:ln w="635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95560" y="4059936"/>
            <a:ext cx="713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📴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363456" y="4828032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Offline-First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363456" y="5230368"/>
            <a:ext cx="2441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Cached maps &amp; schedules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work with no internet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AI ENGINE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TransitAI's AI Works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286000" cy="4389120"/>
          </a:xfrm>
          <a:prstGeom prst="roundRect">
            <a:avLst>
              <a:gd name="adj" fmla="val 6000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4F46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</a:rPr>
              <a:t>INPUTS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📍 Origin &amp; Destination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25146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🕐 Travel Time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31546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⚙️ User Preference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" y="379476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🌧️ Live Weather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" y="44348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434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🚦 Traffic Data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" y="50749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4F46E5">
              <a:alpha val="22000"/>
            </a:srgbClr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5074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📋 Transit Schedules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017520" y="1371600"/>
            <a:ext cx="4114800" cy="4389120"/>
          </a:xfrm>
          <a:prstGeom prst="roundRect">
            <a:avLst>
              <a:gd name="adj" fmla="val 4000"/>
            </a:avLst>
          </a:prstGeom>
          <a:solidFill>
            <a:srgbClr val="4F46E5">
              <a:alpha val="85000"/>
            </a:srgbClr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017520" y="1554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3017520" y="2148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</a:rPr>
              <a:t>AI OPTIMIZATION ENGINE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260604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0" y="2606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 Model —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Fare + delay prediction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0" y="3227832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0" y="3227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 —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Route scoring ensemble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0" y="3849624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0" y="3849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Graph Dijkstra —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Multi-modal pathfinding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0" y="4471416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44714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NLP Engine —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Tamil/Hindi/English queries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00400" y="5093208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FFFFFF">
              <a:alpha val="12000"/>
            </a:srgbClr>
          </a:solidFill>
          <a:ln w="508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0" y="5093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Predictive AI —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Leave-now notifications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406640" y="1371600"/>
            <a:ext cx="4297680" cy="4389120"/>
          </a:xfrm>
          <a:prstGeom prst="roundRect">
            <a:avLst>
              <a:gd name="adj" fmla="val 3191"/>
            </a:avLst>
          </a:prstGeom>
          <a:solidFill>
            <a:srgbClr val="FFFFFF">
              <a:alpha val="6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06640" y="1463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0B981"/>
                </a:solidFill>
              </a:rPr>
              <a:t>OUTPUTS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543800" y="1874520"/>
            <a:ext cx="3977640" cy="548640"/>
          </a:xfrm>
          <a:prstGeom prst="roundRect">
            <a:avLst>
              <a:gd name="adj" fmla="val 15000"/>
            </a:avLst>
          </a:prstGeom>
          <a:solidFill>
            <a:srgbClr val="4F46E5">
              <a:alpha val="20000"/>
            </a:srgbClr>
          </a:solidFill>
          <a:ln w="635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543800" y="1874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⚡ Fastest Route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Min travel time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543800" y="2578608"/>
            <a:ext cx="3977640" cy="548640"/>
          </a:xfrm>
          <a:prstGeom prst="roundRect">
            <a:avLst>
              <a:gd name="adj" fmla="val 15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43800" y="257860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💰 Cheapest Route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Lowest total fare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543800" y="3282696"/>
            <a:ext cx="3977640" cy="548640"/>
          </a:xfrm>
          <a:prstGeom prst="roundRect">
            <a:avLst>
              <a:gd name="adj" fmla="val 15000"/>
            </a:avLst>
          </a:prstGeom>
          <a:solidFill>
            <a:srgbClr val="D97706">
              <a:alpha val="20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43800" y="32826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⚖️ Balanced Route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Optimal time+cost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543800" y="3986784"/>
            <a:ext cx="3977640" cy="548640"/>
          </a:xfrm>
          <a:prstGeom prst="roundRect">
            <a:avLst>
              <a:gd name="adj" fmla="val 15000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39867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🌱 Green Route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Min carbon footprint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543800" y="4690872"/>
            <a:ext cx="3977640" cy="548640"/>
          </a:xfrm>
          <a:prstGeom prst="roundRect">
            <a:avLst>
              <a:gd name="adj" fmla="val 15000"/>
            </a:avLst>
          </a:prstGeom>
          <a:solidFill>
            <a:srgbClr val="0891B2">
              <a:alpha val="20000"/>
            </a:srgbClr>
          </a:solidFill>
          <a:ln w="6350">
            <a:solidFill>
              <a:srgbClr val="0891B2">
                <a:alpha val="60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543800" y="46908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🎫 Booking Ready  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One-tap confirmation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26974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7040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USER 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Zero to Journey in 45 Seconds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527048"/>
            <a:ext cx="621792" cy="621792"/>
          </a:xfrm>
          <a:prstGeom prst="ellipse">
            <a:avLst/>
          </a:prstGeom>
          <a:solidFill>
            <a:srgbClr val="4F46E5"/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</a:rPr>
              <a:t>Enter Journey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Type origin +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destination or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use saved routes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28986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F46E5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4F46E5">
              <a:alpha val="20000"/>
            </a:srgbClr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Type here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90088" y="1527048"/>
            <a:ext cx="621792" cy="621792"/>
          </a:xfrm>
          <a:prstGeom prst="ellipse">
            <a:avLst/>
          </a:prstGeom>
          <a:solidFill>
            <a:srgbClr val="06B6D4"/>
          </a:solidFill>
          <a:ln w="381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2316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3288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Set Preference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3288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Fastest, cheapest,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balanced or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eco-friendly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60520" y="28986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5176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6B6D4">
              <a:alpha val="20000"/>
            </a:srgbClr>
          </a:solidFill>
          <a:ln w="508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Tap chip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56048" y="1527048"/>
            <a:ext cx="621792" cy="621792"/>
          </a:xfrm>
          <a:prstGeom prst="ellipse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38912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9884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AI Analyzes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9884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847 combinations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scored across 6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transport modes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26480" y="28986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3AED"/>
                </a:solidFill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1772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7C3AED">
              <a:alpha val="20000"/>
            </a:srgbClr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&lt; 200ms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22008" y="1527048"/>
            <a:ext cx="621792" cy="621792"/>
          </a:xfrm>
          <a:prstGeom prst="ellipse">
            <a:avLst/>
          </a:prstGeom>
          <a:solidFill>
            <a:srgbClr val="D97706"/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5508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46480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7706"/>
                </a:solidFill>
              </a:rPr>
              <a:t>Pick Route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6480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View map, time,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fare and carbon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score side-by-side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92440" y="28986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7706"/>
                </a:solidFill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8368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D97706">
              <a:alpha val="20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Swipe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2104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87968" y="1527048"/>
            <a:ext cx="621792" cy="621792"/>
          </a:xfrm>
          <a:prstGeom prst="ellipse">
            <a:avLst/>
          </a:prstGeom>
          <a:solidFill>
            <a:srgbClr val="10B981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8796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2104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43076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Book All Legs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43076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Metro QR + auto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book + bike hail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in one tap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058400" y="289864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›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4964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20000"/>
            </a:srgbClr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964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 tap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287000" y="1325880"/>
            <a:ext cx="1783080" cy="489204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853928" y="1527048"/>
            <a:ext cx="621792" cy="621792"/>
          </a:xfrm>
          <a:prstGeom prst="ellipse">
            <a:avLst/>
          </a:prstGeom>
          <a:solidFill>
            <a:srgbClr val="0891B2"/>
          </a:solidFill>
          <a:ln w="381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53928" y="15270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0287000" y="22860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10396728" y="283464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Navigate Live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396728" y="3264408"/>
            <a:ext cx="1563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Turn-by-turn +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delay alerts +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transfer reminders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0515600" y="55321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891B2">
              <a:alpha val="20000"/>
            </a:srgbClr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515600" y="5532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GPS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56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21208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Production-Grade System Architecture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4F46E5"/>
                </a:solidFill>
              </a:rPr>
              <a:t>CLIENT LAYER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11247120" cy="0"/>
          </a:xfrm>
          <a:prstGeom prst="line">
            <a:avLst/>
          </a:prstGeom>
          <a:noFill/>
          <a:ln w="5080">
            <a:solidFill>
              <a:srgbClr val="4F46E5">
                <a:alpha val="30000"/>
              </a:srgbClr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2468880" y="134416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4F46E5">
              <a:alpha val="18000"/>
            </a:srgbClr>
          </a:solidFill>
          <a:ln w="635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468880" y="13441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📱 React Native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(iOS + Android)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25312" y="134416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4F46E5">
              <a:alpha val="18000"/>
            </a:srgbClr>
          </a:solidFill>
          <a:ln w="635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25312" y="13441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💻 Next.js 14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(Web / PWA)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381744" y="134416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4F46E5">
              <a:alpha val="18000"/>
            </a:srgbClr>
          </a:solidFill>
          <a:ln w="6350">
            <a:solidFill>
              <a:srgbClr val="4F46E5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381744" y="13441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🎙️ Voice / Chat UI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(NLP Interface)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69280" y="21488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6B6D4"/>
                </a:solidFill>
              </a:rPr>
              <a:t>API GATEWAY + AUTH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11247120" cy="0"/>
          </a:xfrm>
          <a:prstGeom prst="line">
            <a:avLst/>
          </a:prstGeom>
          <a:noFill/>
          <a:ln w="5080">
            <a:solidFill>
              <a:srgbClr val="06B6D4">
                <a:alpha val="30000"/>
              </a:srgbClr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468880" y="235000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468880" y="23500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⚡ FastAPI Gateway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(REST + WebSocket)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25312" y="235000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25312" y="23500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🔒 JWT / OAuth2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Auth Service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381744" y="2350008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6B6D4">
              <a:alpha val="18000"/>
            </a:srgbClr>
          </a:solidFill>
          <a:ln w="6350">
            <a:solidFill>
              <a:srgbClr val="06B6D4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381744" y="23500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🛡️ Redis Rate Limiter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&amp; Session Cache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669280" y="315468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0B981"/>
                </a:solidFill>
              </a:rPr>
              <a:t>MICROSERVICES LAYER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5080">
            <a:solidFill>
              <a:srgbClr val="10B981">
                <a:alpha val="30000"/>
              </a:srgbClr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2194560" y="335584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194560" y="33558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🧭 Route Engine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(Dijkstra + A*)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965192" y="335584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965192" y="33558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🧠 AI/ML Service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(XGBoost + RF)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735824" y="335584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735824" y="33558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🎫 Booking Service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(Multi-modal OTA)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0506456" y="3355848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0B981">
              <a:alpha val="18000"/>
            </a:srgbClr>
          </a:solidFill>
          <a:ln w="6350">
            <a:solidFill>
              <a:srgbClr val="10B981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10506456" y="335584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🔔 Notification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(FCM + SMS)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669280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↕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4343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D97706"/>
                </a:solidFill>
              </a:rPr>
              <a:t>DATA + EXTERNAL APIs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4800600"/>
            <a:ext cx="11247120" cy="0"/>
          </a:xfrm>
          <a:prstGeom prst="line">
            <a:avLst/>
          </a:prstGeom>
          <a:noFill/>
          <a:ln w="5080">
            <a:solidFill>
              <a:srgbClr val="D97706">
                <a:alpha val="30000"/>
              </a:srgbClr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685800" y="4361688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85800" y="43616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🐘 PostgreSQL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(Core data)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862072" y="4361688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2862072" y="43616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⚡ Redis Cache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(Real-time feed)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038344" y="4361688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038344" y="43616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🗺️ Google Maps API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(Routing)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214616" y="4361688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7214616" y="43616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🚂 GTFS / IRCTC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(Schedules)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390888" y="4361688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>
              <a:alpha val="18000"/>
            </a:srgbClr>
          </a:solidFill>
          <a:ln w="6350">
            <a:solidFill>
              <a:srgbClr val="D97706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9390888" y="436168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🛺 Namma Yatri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(Auto booking)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5321808"/>
            <a:ext cx="12161520" cy="1143000"/>
          </a:xfrm>
          <a:prstGeom prst="round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Microservices Design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233172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REST + WebSocket APIs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429768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Real-Time Data Pipelines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26364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Cloud-Native &amp; Scalable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822960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Modular ML Pipeline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0195560" y="5486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</a:rPr>
              <a:t>✅ Sub-200ms Response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TECH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Modern, Scalable, Production-Ready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9110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20000"/>
            </a:srgbClr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11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React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85216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Next.js 14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" y="24688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SSR + PWA web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30815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20000"/>
            </a:srgbClr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0815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Mobile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5216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React Native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iOS &amp; Android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142232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425196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20000"/>
            </a:srgbClr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251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UI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5216" y="4544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" y="4809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Design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5312664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5422392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4F46E5">
              <a:alpha val="20000"/>
            </a:srgbClr>
          </a:solidFill>
          <a:ln w="381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422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</a:rPr>
              <a:t>Charts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5216" y="5715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Plotly.js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" y="59801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Data visualizations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83280" y="123444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83280" y="1801368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93008" y="19110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1911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Python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11296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FastAPI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11296" y="24688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REST + WebSocket API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83280" y="2971800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93008" y="30815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93008" y="30815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SQL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11296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11296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Primary database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83280" y="4142232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93008" y="425196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4251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Cache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511296" y="4544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Redis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511296" y="4809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Cache + real-time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83280" y="5312664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493008" y="5422392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10B981">
              <a:alpha val="20000"/>
            </a:srgbClr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93008" y="5422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TSDB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511296" y="5715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TimescaleDB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11296" y="59801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Time-series delays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123444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AI / ML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1801368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19088" y="19110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1911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ML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437376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XGBoost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437376" y="24688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Delay + fare prediction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09360" y="2971800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19088" y="30815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9088" y="30815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ML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437376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37376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Route scoring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09360" y="4142232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419088" y="425196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19088" y="4251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Python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437376" y="4544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37376" y="4809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Feature engineering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309360" y="5312664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419088" y="5422392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7C3AED">
              <a:alpha val="20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9088" y="5422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LLM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437376" y="5715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Claude API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37376" y="59801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NLP journey assistant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235440" y="1234440"/>
            <a:ext cx="269748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72" name="Text 70"/>
          <p:cNvSpPr/>
          <p:nvPr/>
        </p:nvSpPr>
        <p:spPr>
          <a:xfrm>
            <a:off x="9235440" y="12344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INFRASTRUCTURE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9235440" y="1801368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345168" y="1911096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97706">
              <a:alpha val="20000"/>
            </a:srgbClr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345168" y="19110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Cloud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363456" y="220370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Vercel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363456" y="246888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Frontend CDN deploy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235440" y="2971800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345168" y="3081528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97706">
              <a:alpha val="20000"/>
            </a:srgbClr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45168" y="30815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Cloud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9363456" y="33741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Railway.app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363456" y="363931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Backend containerized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9235440" y="4142232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9345168" y="4251960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97706">
              <a:alpha val="20000"/>
            </a:srgbClr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345168" y="4251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DevOps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9363456" y="4544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GitHub Actions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363456" y="480974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CI/CD pipeline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235440" y="5312664"/>
            <a:ext cx="269748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9345168" y="5422392"/>
            <a:ext cx="594360" cy="256032"/>
          </a:xfrm>
          <a:prstGeom prst="roundRect">
            <a:avLst>
              <a:gd name="adj" fmla="val 21429"/>
            </a:avLst>
          </a:prstGeom>
          <a:solidFill>
            <a:srgbClr val="D97706">
              <a:alpha val="20000"/>
            </a:srgbClr>
          </a:solidFill>
          <a:ln w="3810">
            <a:solidFill>
              <a:srgbClr val="D9770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345168" y="54223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Ops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9363456" y="5715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0F1A"/>
                </a:solidFill>
              </a:rPr>
              <a:t>Sentry + Grafana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9363456" y="59801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Monitoring + alerts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IMPACT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Real-World Impact That Scales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4F46E5">
              <a:alpha val="85000"/>
            </a:srgbClr>
          </a:solidFill>
          <a:ln w="762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Faster Journeys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vs. single-mode travel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06B6D4">
              <a:alpha val="85000"/>
            </a:srgbClr>
          </a:solidFill>
          <a:ln w="762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8328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₹847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38328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Saved Monthly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per commuter, avg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10B981">
              <a:alpha val="85000"/>
            </a:srgbClr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21792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21792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Carbon Reduction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cab → public transit shift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52560" y="1371600"/>
            <a:ext cx="2560320" cy="1920240"/>
          </a:xfrm>
          <a:prstGeom prst="roundRect">
            <a:avLst>
              <a:gd name="adj" fmla="val 7619"/>
            </a:avLst>
          </a:prstGeom>
          <a:solidFill>
            <a:srgbClr val="D97706">
              <a:alpha val="85000"/>
            </a:srgbClr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052560" y="1417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4.2B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052560" y="2212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Daily Trips TAM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05256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total addressable market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48640" y="3429000"/>
            <a:ext cx="5394960" cy="3017520"/>
          </a:xfrm>
          <a:prstGeom prst="roundRect">
            <a:avLst>
              <a:gd name="adj" fmla="val 454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520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</a:rPr>
              <a:t>For Users 👤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31520" y="4123944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6012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Up to 30% faster journeys with multi-modal optimization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31520" y="4562856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507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Optimized fare combinations save ₹847/month on average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31520" y="500176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60120" y="4946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Single app replaces 4+ transit apps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31520" y="5440680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0120" y="5385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Seamless end-to-end travel with one-tap booking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31520" y="5879592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0120" y="5824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Real-time delay alerts prevent missed connections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72200" y="3429000"/>
            <a:ext cx="5394960" cy="3017520"/>
          </a:xfrm>
          <a:prstGeom prst="roundRect">
            <a:avLst>
              <a:gd name="adj" fmla="val 454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55080" y="35204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B981"/>
                </a:solidFill>
              </a:rPr>
              <a:t>For Cities 🏙️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6355080" y="412394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Shifts trips from cabs to public transit, reducing congestion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355080" y="456285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0" y="4507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Higher ridership drives revenue for city transit authorities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355080" y="500176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0" y="4946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Carbon footprint reduced via green route promotion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355080" y="54406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583680" y="5385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Smart city API integration for unified mobility data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355080" y="587959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83680" y="5824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Actionable commuter data for urban planning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SCALABILITY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to Scale Across All of India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0" cy="5212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46E5"/>
                </a:solidFill>
              </a:rPr>
              <a:t>City Expansion Roadmap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4F46E5">
              <a:alpha val="90000"/>
            </a:srgbClr>
          </a:solidFill>
          <a:ln w="762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21031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</a:rPr>
              <a:t>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07008" y="19019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Phase 1 — Q3 2025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207008" y="2176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Chennai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2148840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46E5"/>
                </a:solidFill>
              </a:rPr>
              <a:t>MVP Launch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2907792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06B6D4">
              <a:alpha val="20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182112"/>
            <a:ext cx="365760" cy="365760"/>
          </a:xfrm>
          <a:prstGeom prst="ellipse">
            <a:avLst/>
          </a:prstGeom>
          <a:solidFill>
            <a:srgbClr val="06B6D4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Phase 2 — Q1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07008" y="32552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A3B8"/>
                </a:solidFill>
              </a:rPr>
              <a:t>Bengaluru + Hyderabad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49040" y="3227832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06B6D4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227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Scale &amp; Deepen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986784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10B981">
              <a:alpha val="20000"/>
            </a:srgbClr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4261104"/>
            <a:ext cx="365760" cy="365760"/>
          </a:xfrm>
          <a:prstGeom prst="ellipse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07008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Phase 3 — Q3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07008" y="4334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A3B8"/>
                </a:solidFill>
              </a:rPr>
              <a:t>Mumbai + Delhi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749040" y="4306824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City Expansion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" y="5065776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D97706">
              <a:alpha val="20000"/>
            </a:srgbClr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340096"/>
            <a:ext cx="365760" cy="365760"/>
          </a:xfrm>
          <a:prstGeom prst="ellipse">
            <a:avLst/>
          </a:prstGeom>
          <a:solidFill>
            <a:srgbClr val="D97706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5138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Phase 4 — 2027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207008" y="5413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4A3B8"/>
                </a:solidFill>
              </a:rPr>
              <a:t>50+ Metro Cities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749040" y="5385816"/>
            <a:ext cx="1371600" cy="274320"/>
          </a:xfrm>
          <a:prstGeom prst="roundRect">
            <a:avLst>
              <a:gd name="adj" fmla="val 23333"/>
            </a:avLst>
          </a:prstGeom>
          <a:solidFill>
            <a:srgbClr val="D97706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749040" y="5385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Mobility OS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52160" y="1234440"/>
            <a:ext cx="585216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Technical Scalability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1975104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189280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Microservices → scale each module independently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2322576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/>
          <p:nvPr/>
        </p:nvSpPr>
        <p:spPr>
          <a:xfrm>
            <a:off x="6254496" y="224028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GTFS-standard → any city with transit feed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35040" y="2670048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258775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Sub-200ms via Redis caching + async FastAPI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3017520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293522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Kubernetes-ready containerized deployment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364992"/>
            <a:ext cx="109728" cy="1097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32826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ML models retrain weekly on new commute data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852160" y="3977640"/>
            <a:ext cx="585216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0350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Market Scalability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35040" y="47183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0" name="Text 48"/>
          <p:cNvSpPr/>
          <p:nvPr/>
        </p:nvSpPr>
        <p:spPr>
          <a:xfrm>
            <a:off x="6254496" y="463600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GTFS data available for 50+ Indian metro cities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35040" y="50657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254496" y="498348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Namma Yatri open API → all major cities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35040" y="54132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6254496" y="533095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IRCTC rail data → nationwide coverage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576072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6254496" y="567842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Rapido / Ola APIs → nationwide bike coverage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35040" y="61081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6254496" y="602589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White-label B2B version for corporate clients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FUTURE SCOPE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1520" y="548640"/>
            <a:ext cx="9144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From MVP to India's Mobility 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EC4899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15819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👩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3232" y="210312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C4899"/>
                </a:solidFill>
              </a:rPr>
              <a:t>Women Safety Module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246888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SOS alerts, safe route planning with lit streets, women-only coach routing, and guardian live-tracking.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51960" y="141732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06B6D4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51960" y="15819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416552" y="210312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B6D4"/>
                </a:solidFill>
              </a:rPr>
              <a:t>Real-Time Vehicle Tracking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416552" y="246888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Live GPS for all transport modes — see your bus, train, and auto on a single live map.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955280" y="141732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10B981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955280" y="15819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119872" y="210312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</a:rPr>
              <a:t>Carbon Reward System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19872" y="246888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Earn TransitPoints for every green commute. Redeem for metro tokens, bus passes, and partner offers.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39593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13232" y="448056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AI Travel Assistant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13232" y="484632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Conversational journey planning in Tamil, Hindi &amp; English. Ask: 'Cheap route to Egmore under ₹50'.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51960" y="379476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D97706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51960" y="39593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4416552" y="448056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</a:rPr>
              <a:t>Smart City Integration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416552" y="484632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Connect with city ATCS, traffic signals, NDMC infrastructure, and municipal transport databases.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955280" y="3794760"/>
            <a:ext cx="342900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000"/>
            </a:srgbClr>
          </a:solidFill>
          <a:ln w="7620">
            <a:solidFill>
              <a:srgbClr val="4F46E5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955280" y="39593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8119872" y="4480560"/>
            <a:ext cx="3099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46E5"/>
                </a:solidFill>
              </a:rPr>
              <a:t>B2B Enterprise Plans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119872" y="4846320"/>
            <a:ext cx="309981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Corporate commute management for companies — route planning + billing + analytics for entire workforce.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D0F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6B6D4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Fundable, Scalable Revenue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66160" cy="4297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38528" y="1417320"/>
            <a:ext cx="658368" cy="658368"/>
          </a:xfrm>
          <a:prstGeom prst="ellipse">
            <a:avLst/>
          </a:prstGeom>
          <a:solidFill>
            <a:srgbClr val="4F46E5">
              <a:alpha val="20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426464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Booking Commission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2–4% commission on every segment booked through the platform — metro QR, auto dispatch, bike hail, train seat.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" y="4041648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4F46E5">
              <a:alpha val="12000"/>
            </a:srgbClr>
          </a:solidFill>
          <a:ln w="508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0416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</a:rPr>
              <a:t>₹8 per booking × 10M bookings/month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7512" y="4617720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4F46E5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4617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₹80Cr/month @ scale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280160"/>
            <a:ext cx="3566160" cy="4297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9008" y="1417320"/>
            <a:ext cx="658368" cy="658368"/>
          </a:xfrm>
          <a:prstGeom prst="ellipse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426464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0799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07992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B2B Corporate Plans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07992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Enterprise commute management for companies. Per-seat subscription for employee transit planning, billing, and analytics.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07992" y="4041648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10B981">
              <a:alpha val="12000"/>
            </a:srgbClr>
          </a:solidFill>
          <a:ln w="508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40416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₹500/employee/month × 10K seats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07992" y="4617720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10B981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07992" y="4617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₹5Cr/month Year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83880" y="1280160"/>
            <a:ext cx="3566160" cy="42976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19488" y="1417320"/>
            <a:ext cx="658368" cy="658368"/>
          </a:xfrm>
          <a:prstGeom prst="ellipse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0" y="1426464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4847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48472" y="23317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City Data Insights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48472" y="2834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Anonymized commuter pattern data sold to municipalities for urban planning, transit optimization, and smart city projects.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48472" y="4041648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D97706">
              <a:alpha val="12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404164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</a:rPr>
              <a:t>₹1Cr/city/year × 20 cities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48472" y="4617720"/>
            <a:ext cx="3246120" cy="475488"/>
          </a:xfrm>
          <a:prstGeom prst="roundRect">
            <a:avLst>
              <a:gd name="adj" fmla="val 17308"/>
            </a:avLst>
          </a:prstGeom>
          <a:solidFill>
            <a:srgbClr val="D97706">
              <a:alpha val="9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348472" y="461772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₹20Cr/year from cities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742432"/>
            <a:ext cx="11155680" cy="658368"/>
          </a:xfrm>
          <a:prstGeom prst="roundRect">
            <a:avLst>
              <a:gd name="adj" fmla="val 16667"/>
            </a:avLst>
          </a:prstGeom>
          <a:solidFill>
            <a:srgbClr val="0D0F1A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574243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</a:rPr>
              <a:t>🎯  Total Addressable Market: ₹8,000Cr+  ·  Target: ₹500Cr ARR by Year 3  ·  Unit Economics: ₹8 revenue / ₹2 CAC = 4× ROI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28800"/>
            <a:ext cx="4572000" cy="4572000"/>
          </a:xfrm>
          <a:prstGeom prst="ellipse">
            <a:avLst/>
          </a:prstGeom>
          <a:solidFill>
            <a:srgbClr val="4F46E5">
              <a:alpha val="12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731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Shape 3"/>
          <p:cNvSpPr/>
          <p:nvPr/>
        </p:nvSpPr>
        <p:spPr>
          <a:xfrm>
            <a:off x="4114800" y="1965960"/>
            <a:ext cx="39319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1214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5B4FC"/>
                </a:solidFill>
              </a:rPr>
              <a:t>TransitAI — One Journey. One Platform. Smarter Commutes.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371600" y="2743200"/>
            <a:ext cx="941832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</a:rPr>
              <a:t>"TransitAI transforms fragmented transportation into a unified, intelligent mobility experience for India's future cities."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188720" y="388620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8872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88720" y="4434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Harish 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8872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Lead Architect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0" y="388620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57600" y="4434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Gokul 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/ ML Engineer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26480" y="388620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126480" y="4434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Udaya Nithi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Backend Developer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595360" y="388620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762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95360" y="39502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8595360" y="4434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Abishek P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95360" y="4773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Frontend &amp; UX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0" y="5623560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4F46E5">
              <a:alpha val="4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0" y="5623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🏆  Mobility Innovation Hackathon  ·  Smart Multi-Modal Journey Planner  ·  Team The Trail Blazers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TransitAI — Mobility Innovation Hackathon</dc:title>
  <dc:subject>PptxGenJS Presentation</dc:subject>
  <dc:creator>Team The Trail Blazers</dc:creator>
  <cp:lastModifiedBy>Team The Trail Blazers</cp:lastModifiedBy>
  <cp:revision>1</cp:revision>
  <dcterms:created xsi:type="dcterms:W3CDTF">2026-06-14T11:25:10Z</dcterms:created>
  <dcterms:modified xsi:type="dcterms:W3CDTF">2026-06-14T11:25:10Z</dcterms:modified>
</cp:coreProperties>
</file>